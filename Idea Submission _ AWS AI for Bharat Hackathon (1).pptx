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  NEURO BHARAT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AI FOR MEDIA ,CONTENT &amp; DIGITAL EXPERIENCES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SOMPETA PAVAN KUMAR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7536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49"/>
            <a:ext cx="8691051" cy="31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pPr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b="1" dirty="0">
                <a:latin typeface="Manrope SemiBold" panose="020B0604020202020204" charset="0"/>
              </a:rPr>
              <a:t>A large portion of Bharat’s population remains digitally underrepresented due to the lack of local-language content, region-specific digital experiences, and accessible media tools. Content creation and distribution platforms today are largely English-centric, urban-focused, and resource-heavy, making it difficult for rural creators, local journalists, educators, small businesses, and community leaders to effectively create, personalize, and share digital content.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621792"/>
            <a:ext cx="8625036" cy="404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>
                <a:latin typeface="Manrope SemiBold" panose="020B0604020202020204" charset="0"/>
              </a:rPr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Design an </a:t>
            </a:r>
            <a:r>
              <a:rPr lang="en-US" b="1" dirty="0">
                <a:latin typeface="Manrope SemiBold" panose="020B0604020202020204" charset="0"/>
              </a:rPr>
              <a:t>AI-driven multilingual content intelligence platform</a:t>
            </a:r>
            <a:r>
              <a:rPr lang="en-US" dirty="0">
                <a:latin typeface="Manrope SemiBold" panose="020B0604020202020204" charset="0"/>
              </a:rPr>
              <a:t> that empowers Bharat’s creators to </a:t>
            </a:r>
            <a:r>
              <a:rPr lang="en-US" b="1" dirty="0">
                <a:latin typeface="Manrope SemiBold" panose="020B0604020202020204" charset="0"/>
              </a:rPr>
              <a:t>create, localize, personalize, and distribute digital content</a:t>
            </a:r>
            <a:r>
              <a:rPr lang="en-US" dirty="0">
                <a:latin typeface="Manrope SemiBold" panose="020B0604020202020204" charset="0"/>
              </a:rPr>
              <a:t> in </a:t>
            </a:r>
            <a:r>
              <a:rPr lang="en-US" b="1" dirty="0">
                <a:latin typeface="Manrope SemiBold" panose="020B0604020202020204" charset="0"/>
              </a:rPr>
              <a:t>regional languages</a:t>
            </a:r>
            <a:r>
              <a:rPr lang="en-US" dirty="0">
                <a:latin typeface="Manrope SemiBold" panose="020B0604020202020204" charset="0"/>
              </a:rPr>
              <a:t> with minimal technical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The platform will leverage </a:t>
            </a:r>
            <a:r>
              <a:rPr lang="en-US" b="1" dirty="0">
                <a:latin typeface="Manrope SemiBold" panose="020B0604020202020204" charset="0"/>
              </a:rPr>
              <a:t>Generative AI, NLP, and speech technologies</a:t>
            </a:r>
            <a:r>
              <a:rPr lang="en-US" dirty="0">
                <a:latin typeface="Manrope SemiBold" panose="020B0604020202020204" charset="0"/>
              </a:rPr>
              <a:t> to:</a:t>
            </a:r>
          </a:p>
          <a:p>
            <a:r>
              <a:rPr lang="en-US" dirty="0">
                <a:latin typeface="Manrope SemiBold" panose="020B0604020202020204" charset="0"/>
              </a:rPr>
              <a:t>        Generate and transform content (text, audio, video scripts) in </a:t>
            </a:r>
            <a:r>
              <a:rPr lang="en-US" b="1" dirty="0">
                <a:latin typeface="Manrope SemiBold" panose="020B0604020202020204" charset="0"/>
              </a:rPr>
              <a:t>multiple Indian  languages</a:t>
            </a:r>
            <a:endParaRPr lang="en-US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Automatically </a:t>
            </a:r>
            <a:r>
              <a:rPr lang="en-US" b="1" dirty="0">
                <a:latin typeface="Manrope SemiBold" panose="020B0604020202020204" charset="0"/>
              </a:rPr>
              <a:t>simplify, summarize, and localize</a:t>
            </a:r>
            <a:r>
              <a:rPr lang="en-US" dirty="0">
                <a:latin typeface="Manrope SemiBold" panose="020B0604020202020204" charset="0"/>
              </a:rPr>
              <a:t> content for different regions and audiences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Assist small creators and local businesses with </a:t>
            </a:r>
            <a:r>
              <a:rPr lang="en-US" b="1" dirty="0">
                <a:latin typeface="Manrope SemiBold" panose="020B0604020202020204" charset="0"/>
              </a:rPr>
              <a:t>content planning, optimization, and scheduling</a:t>
            </a:r>
            <a:endParaRPr lang="en-US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Enable </a:t>
            </a:r>
            <a:r>
              <a:rPr lang="en-US" b="1" dirty="0">
                <a:latin typeface="Manrope SemiBold" panose="020B0604020202020204" charset="0"/>
              </a:rPr>
              <a:t>voice-first and low-bandwidth content creation</a:t>
            </a:r>
            <a:r>
              <a:rPr lang="en-US" dirty="0">
                <a:latin typeface="Manrope SemiBold" panose="020B0604020202020204" charset="0"/>
              </a:rPr>
              <a:t> for wider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Analyze engagement and recommend improvements tailored to local audiences</a:t>
            </a:r>
            <a:endParaRPr lang="en-US" b="1" dirty="0">
              <a:solidFill>
                <a:schemeClr val="tx1"/>
              </a:solidFill>
              <a:latin typeface="Manrope SemiBold" panose="020B0604020202020204" charset="0"/>
            </a:endParaRPr>
          </a:p>
          <a:p>
            <a:endParaRPr lang="en-US" b="1" dirty="0">
              <a:solidFill>
                <a:schemeClr val="tx1"/>
              </a:solidFill>
              <a:latin typeface="Manrope SemiBold" panose="020B060402020202020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Manrope SemiBold" panose="020B0604020202020204" charset="0"/>
              </a:rPr>
              <a:t>Impact:</a:t>
            </a:r>
            <a:br>
              <a:rPr lang="en-US" dirty="0">
                <a:latin typeface="Manrope SemiBold" panose="020B0604020202020204" charset="0"/>
              </a:rPr>
            </a:br>
            <a:r>
              <a:rPr lang="en-US" b="1" dirty="0">
                <a:latin typeface="Manrope SemiBold" panose="020B0604020202020204" charset="0"/>
              </a:rPr>
              <a:t>This solution democratizes digital media creation by giving Bharat a strong local voice. It bridges the content gap between urban and rural India, boosts regional creativity, strengthens local economies, and ensures that digital experiences truly reflect the diversity of Bharat.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US" dirty="0"/>
              <a:t>Features Offered by the Solution:</a:t>
            </a:r>
            <a:br>
              <a:rPr lang="en-US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  1.Multilingual Content Generation</a:t>
            </a:r>
            <a:br>
              <a:rPr lang="en-IN" dirty="0"/>
            </a:br>
            <a:r>
              <a:rPr lang="en-IN" dirty="0"/>
              <a:t>   2.Smart Content Simplification &amp; Summarization</a:t>
            </a:r>
            <a:br>
              <a:rPr lang="en-IN" dirty="0"/>
            </a:br>
            <a:r>
              <a:rPr lang="en-IN" dirty="0"/>
              <a:t>   3.Voice-First Content Creation</a:t>
            </a:r>
            <a:br>
              <a:rPr lang="en-IN" dirty="0"/>
            </a:br>
            <a:r>
              <a:rPr lang="en-IN" dirty="0"/>
              <a:t>   4.Content Personalization Engine</a:t>
            </a:r>
            <a:br>
              <a:rPr lang="en-IN" dirty="0"/>
            </a:br>
            <a:r>
              <a:rPr lang="en-IN" dirty="0"/>
              <a:t>   5.AI Content Planner &amp; Scheduler</a:t>
            </a:r>
            <a:endParaRPr lang="en-IN" dirty="0">
              <a:solidFill>
                <a:srgbClr val="434343"/>
              </a:solidFill>
              <a:latin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IN" dirty="0"/>
              <a:t>   6.Engagement &amp; Insight Analytics</a:t>
            </a:r>
            <a:br>
              <a:rPr lang="en-IN" dirty="0"/>
            </a:br>
            <a:r>
              <a:rPr lang="en-IN" dirty="0"/>
              <a:t>   7.Low-Bandwidth &amp; Mobile-Optimized Design</a:t>
            </a:r>
            <a:endParaRPr lang="en-IN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4038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 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F2028-D927-AAFE-306C-2E17AF396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413" y="1417246"/>
            <a:ext cx="3174865" cy="3484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7CE6F1-7E60-A70D-3837-5B009CA9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522" y="1382751"/>
            <a:ext cx="3932663" cy="3330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699" y="863550"/>
            <a:ext cx="8572105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E03E7-B95F-55C4-47D9-5ECC94E1B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038" y="1284956"/>
            <a:ext cx="3171593" cy="3389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700" b="1" noProof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r>
              <a:rPr lang="en-IN" b="1" noProof="1">
                <a:latin typeface="Manrope SemiBold" panose="020B0604020202020204" charset="0"/>
              </a:rPr>
              <a:t>Artificial Intelligence &amp; Machine Learning</a:t>
            </a:r>
            <a:r>
              <a:rPr lang="en-IN" noProof="1">
                <a:latin typeface="Manrope SemiBold" panose="020B0604020202020204" charset="0"/>
              </a:rPr>
              <a:t>:</a:t>
            </a:r>
            <a:br>
              <a:rPr lang="en-IN" noProof="1">
                <a:latin typeface="Manrope SemiBold" panose="020B0604020202020204" charset="0"/>
              </a:rPr>
            </a:br>
            <a:r>
              <a:rPr lang="en-IN" noProof="1">
                <a:latin typeface="Manrope SemiBold" panose="020B0604020202020204" charset="0"/>
              </a:rPr>
              <a:t>                    Large Language Models (LLMs) , Natural Language Processing (NLP), Speech-to-Text (STT), Text-to-Speech (TTS), Recommendation Engine.</a:t>
            </a:r>
            <a:br>
              <a:rPr lang="en-IN" noProof="1">
                <a:latin typeface="Manrope SemiBold" panose="020B0604020202020204" charset="0"/>
              </a:rPr>
            </a:br>
            <a:endParaRPr lang="en-IN" noProof="1">
              <a:latin typeface="Manrope SemiBold" panose="020B0604020202020204" charset="0"/>
            </a:endParaRPr>
          </a:p>
          <a:p>
            <a:r>
              <a:rPr lang="en-IN" b="1" noProof="1">
                <a:latin typeface="Manrope SemiBold" panose="020B0604020202020204" charset="0"/>
              </a:rPr>
              <a:t>Backend &amp; APIs:</a:t>
            </a:r>
            <a:br>
              <a:rPr lang="en-IN" noProof="1">
                <a:latin typeface="Manrope SemiBold" panose="020B0604020202020204" charset="0"/>
              </a:rPr>
            </a:br>
            <a:r>
              <a:rPr lang="en-IN" noProof="1">
                <a:latin typeface="Manrope SemiBold" panose="020B0604020202020204" charset="0"/>
              </a:rPr>
              <a:t>        1.Python (FastAPI / Flask) </a:t>
            </a:r>
          </a:p>
          <a:p>
            <a:r>
              <a:rPr lang="en-IN" noProof="1">
                <a:latin typeface="Manrope SemiBold" panose="020B0604020202020204" charset="0"/>
              </a:rPr>
              <a:t>        2.Node.js (Express.js)</a:t>
            </a:r>
          </a:p>
          <a:p>
            <a:r>
              <a:rPr lang="en-IN" noProof="1">
                <a:latin typeface="Manrope SemiBold" panose="020B0604020202020204" charset="0"/>
              </a:rPr>
              <a:t>        3.REST APIs / GraphQL</a:t>
            </a:r>
            <a:br>
              <a:rPr lang="en-IN" noProof="1">
                <a:latin typeface="Manrope SemiBold" panose="020B0604020202020204" charset="0"/>
              </a:rPr>
            </a:br>
            <a:endParaRPr lang="en-IN" noProof="1">
              <a:latin typeface="Manrope SemiBold" panose="020B0604020202020204" charset="0"/>
            </a:endParaRPr>
          </a:p>
          <a:p>
            <a:r>
              <a:rPr lang="en-IN" b="1" noProof="1">
                <a:latin typeface="Manrope SemiBold" panose="020B0604020202020204" charset="0"/>
              </a:rPr>
              <a:t>Frontend &amp; User Interface:</a:t>
            </a:r>
          </a:p>
          <a:p>
            <a:r>
              <a:rPr lang="en-IN" noProof="1">
                <a:latin typeface="Manrope SemiBold" panose="020B0604020202020204" charset="0"/>
              </a:rPr>
              <a:t>         1.React.js / Next.js </a:t>
            </a:r>
            <a:br>
              <a:rPr lang="en-IN" noProof="1">
                <a:latin typeface="Manrope SemiBold" panose="020B0604020202020204" charset="0"/>
              </a:rPr>
            </a:br>
            <a:r>
              <a:rPr lang="en-IN" noProof="1">
                <a:latin typeface="Manrope SemiBold" panose="020B0604020202020204" charset="0"/>
              </a:rPr>
              <a:t>        2.Flutter / React Native </a:t>
            </a:r>
            <a:br>
              <a:rPr lang="en-IN" noProof="1">
                <a:latin typeface="Manrope SemiBold" panose="020B0604020202020204" charset="0"/>
              </a:rPr>
            </a:br>
            <a:r>
              <a:rPr lang="en-IN" noProof="1">
                <a:latin typeface="Manrope SemiBold" panose="020B0604020202020204" charset="0"/>
              </a:rPr>
              <a:t>        3. Progressive Web App (PWA)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IN" noProof="1">
              <a:solidFill>
                <a:srgbClr val="434343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2;p19" title="Artboarddfghjk – 6.png">
            <a:extLst>
              <a:ext uri="{FF2B5EF4-FFF2-40B4-BE49-F238E27FC236}">
                <a16:creationId xmlns:a16="http://schemas.microsoft.com/office/drawing/2014/main" id="{F075C433-CAD7-95C9-DAFE-3A2C2AD7E4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96644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D335BC-FDEA-7E8D-D116-C43095D5EF23}"/>
              </a:ext>
            </a:extLst>
          </p:cNvPr>
          <p:cNvSpPr txBox="1"/>
          <p:nvPr/>
        </p:nvSpPr>
        <p:spPr>
          <a:xfrm>
            <a:off x="2847278" y="2007220"/>
            <a:ext cx="3992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F2274-3E5C-1511-53BD-5C682AD13C5C}"/>
              </a:ext>
            </a:extLst>
          </p:cNvPr>
          <p:cNvSpPr txBox="1"/>
          <p:nvPr/>
        </p:nvSpPr>
        <p:spPr>
          <a:xfrm>
            <a:off x="329184" y="353568"/>
            <a:ext cx="69738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noProof="1">
                <a:latin typeface="Manrope SemiBold" panose="020B0604020202020204" charset="0"/>
              </a:rPr>
              <a:t>Database &amp; Storage: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     MongoDB / Firebase ,PostgreSQL ,Object Storage (AWS S3 / GCP Storage)</a:t>
            </a:r>
            <a:br>
              <a:rPr lang="en-IN" noProof="1">
                <a:latin typeface="Manrope SemiBold" panose="020B0604020202020204" charset="0"/>
              </a:rPr>
            </a:br>
            <a:endParaRPr lang="en-IN" noProof="1">
              <a:latin typeface="Manrope SemiBold" panose="020B0604020202020204" charset="0"/>
            </a:endParaRPr>
          </a:p>
          <a:p>
            <a:r>
              <a:rPr lang="en-IN" b="1" noProof="1">
                <a:latin typeface="Manrope SemiBold" panose="020B0604020202020204" charset="0"/>
              </a:rPr>
              <a:t>Cloud &amp; Deployment: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AWS / Google Cloud / Azure ,Docker Kubernetes (optional) ,CI/CD Pipelines</a:t>
            </a:r>
            <a:r>
              <a:rPr lang="en-IN" noProof="1"/>
              <a:t> </a:t>
            </a:r>
          </a:p>
          <a:p>
            <a:endParaRPr lang="en-IN" b="1" noProof="1"/>
          </a:p>
          <a:p>
            <a:r>
              <a:rPr lang="en-IN" b="1" noProof="1">
                <a:latin typeface="Manrope SemiBold" panose="020B0604020202020204" charset="0"/>
              </a:rPr>
              <a:t>Analytics &amp; Monitoring: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Google Analytics / Mixpanel,Custom AI Analytics Engine,Prometheus + Grafana</a:t>
            </a:r>
          </a:p>
          <a:p>
            <a:r>
              <a:rPr lang="en-IN" b="1" noProof="1">
                <a:latin typeface="Manrope SemiBold" panose="020B0604020202020204" charset="0"/>
              </a:rPr>
              <a:t>Security &amp; Accessibility: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Auth 2.0 / JWT,Role-Based Access Control (RBAC),Data Encryption (AES / TLS),WCAG Accessibility Standards</a:t>
            </a:r>
            <a:br>
              <a:rPr lang="en-IN" noProof="1">
                <a:latin typeface="Manrope SemiBold" panose="020B0604020202020204" charset="0"/>
              </a:rPr>
            </a:br>
            <a:br>
              <a:rPr lang="en-IN" noProof="1">
                <a:latin typeface="Manrope SemiBold" panose="020B0604020202020204" charset="0"/>
              </a:rPr>
            </a:br>
            <a:endParaRPr lang="en-IN" noProof="1">
              <a:latin typeface="Manrope SemiBold" panose="020B0604020202020204" charset="0"/>
            </a:endParaRPr>
          </a:p>
          <a:p>
            <a:r>
              <a:rPr lang="en-IN" b="1" noProof="1"/>
              <a:t> </a:t>
            </a:r>
            <a:r>
              <a:rPr lang="en-IN" b="1" noProof="1">
                <a:latin typeface="Manrope SemiBold" panose="020B0604020202020204" charset="0"/>
              </a:rPr>
              <a:t>IN Bharat-Focused Enhancements: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Indic NLP Libraries (AI4Bharat, IndicBERT),Offline Mode Support,Regional Language UI &amp; Voice Support,Low-bandwidth AI optimization.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IN" sz="1700" b="1" noProof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br>
              <a:rPr lang="en-IN" sz="1700" b="1" noProof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lang="en-IN" sz="1700" b="1" noProof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endParaRPr lang="en-IN" sz="1700" b="1" noProof="1">
              <a:solidFill>
                <a:srgbClr val="202729"/>
              </a:solidFill>
              <a:latin typeface="Manrope"/>
              <a:sym typeface="Manrope"/>
            </a:endParaRPr>
          </a:p>
          <a:p>
            <a:r>
              <a:rPr lang="en-IN" b="1" noProof="1">
                <a:latin typeface="Manrope SemiBold" panose="020B0604020202020204" charset="0"/>
              </a:rPr>
              <a:t>Cost Breakdown: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AI &amp; NLP (Open-Source Only – IndicBERT, LLaMA, Whisper):   ₹90,000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Cloud Infrastructure (Student / Startup credits, minimal VMs):   ₹60,000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Web + Mobile App (PWA instead of native apps):   ₹80,000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Voice Interface (Open-source STT/TTS):    ₹40,000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Manrope SemiBold" panose="020B0604020202020204" charset="0"/>
              </a:rPr>
              <a:t>Testing, Deployment &amp; Maintenance:    ₹30,000</a:t>
            </a:r>
            <a:br>
              <a:rPr lang="en-IN" noProof="1">
                <a:latin typeface="Manrope SemiBold" panose="020B0604020202020204" charset="0"/>
              </a:rPr>
            </a:br>
            <a:endParaRPr lang="en-IN" noProof="1">
              <a:latin typeface="Manrope SemiBold" panose="020B0604020202020204" charset="0"/>
            </a:endParaRPr>
          </a:p>
          <a:p>
            <a:endParaRPr lang="en-IN" noProof="1">
              <a:latin typeface="Manrope SemiBold" panose="020B0604020202020204" charset="0"/>
            </a:endParaRPr>
          </a:p>
          <a:p>
            <a:r>
              <a:rPr lang="en-IN" b="1" dirty="0">
                <a:latin typeface="Manrope SemiBold" panose="020B0604020202020204" charset="0"/>
              </a:rPr>
              <a:t>Total Cost:</a:t>
            </a:r>
          </a:p>
          <a:p>
            <a:r>
              <a:rPr lang="en-IN" b="1" dirty="0">
                <a:latin typeface="Manrope SemiBold" panose="020B0604020202020204" charset="0"/>
              </a:rPr>
              <a:t>            ₹3,00,000 (Approx.)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noProof="1">
              <a:latin typeface="Manrope SemiBold" panose="020B06040202020202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br>
              <a:rPr lang="en-IN" noProof="1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lang="en-IN" noProof="1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644</Words>
  <Application>Microsoft Office PowerPoint</Application>
  <PresentationFormat>On-screen Show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Sompeta Pavankumar</cp:lastModifiedBy>
  <cp:revision>2</cp:revision>
  <dcterms:modified xsi:type="dcterms:W3CDTF">2026-01-24T15:37:18Z</dcterms:modified>
</cp:coreProperties>
</file>